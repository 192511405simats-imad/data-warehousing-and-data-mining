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7" r:id="rId2"/>
    <p:sldId id="266" r:id="rId3"/>
    <p:sldId id="258" r:id="rId4"/>
    <p:sldId id="259" r:id="rId5"/>
    <p:sldId id="260" r:id="rId6"/>
    <p:sldId id="267" r:id="rId7"/>
    <p:sldId id="261" r:id="rId8"/>
    <p:sldId id="268" r:id="rId9"/>
    <p:sldId id="269" r:id="rId10"/>
    <p:sldId id="270" r:id="rId11"/>
    <p:sldId id="271" r:id="rId12"/>
    <p:sldId id="273" r:id="rId13"/>
    <p:sldId id="278" r:id="rId14"/>
    <p:sldId id="264" r:id="rId15"/>
    <p:sldId id="274" r:id="rId16"/>
    <p:sldId id="275" r:id="rId17"/>
    <p:sldId id="26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9" userDrawn="1">
          <p15:clr>
            <a:srgbClr val="A4A3A4"/>
          </p15:clr>
        </p15:guide>
        <p15:guide id="2" pos="38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284" y="56"/>
      </p:cViewPr>
      <p:guideLst>
        <p:guide orient="horz" pos="2119"/>
        <p:guide pos="385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980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B58C39-51B5-4297-B191-C92F1AB4DC0E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74262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B58C39-51B5-4297-B191-C92F1AB4DC0E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6273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B58C39-51B5-4297-B191-C92F1AB4DC0E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96403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B58C39-51B5-4297-B191-C92F1AB4DC0E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21918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5910" y="326390"/>
            <a:ext cx="11630660" cy="1877060"/>
            <a:chOff x="295910" y="326390"/>
            <a:chExt cx="11630660" cy="1877060"/>
          </a:xfrm>
        </p:grpSpPr>
        <p:sp>
          <p:nvSpPr>
            <p:cNvPr id="3" name="object 3"/>
            <p:cNvSpPr/>
            <p:nvPr/>
          </p:nvSpPr>
          <p:spPr>
            <a:xfrm>
              <a:off x="314960" y="345440"/>
              <a:ext cx="11592560" cy="1838960"/>
            </a:xfrm>
            <a:custGeom>
              <a:avLst/>
              <a:gdLst/>
              <a:ahLst/>
              <a:cxnLst/>
              <a:rect l="l" t="t" r="r" b="b"/>
              <a:pathLst>
                <a:path w="11592560" h="1838960">
                  <a:moveTo>
                    <a:pt x="0" y="0"/>
                  </a:moveTo>
                  <a:lnTo>
                    <a:pt x="11592560" y="0"/>
                  </a:lnTo>
                  <a:lnTo>
                    <a:pt x="11592560" y="1838960"/>
                  </a:lnTo>
                  <a:lnTo>
                    <a:pt x="0" y="183896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0309" y="507709"/>
              <a:ext cx="10972800" cy="1181038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606550" y="3166110"/>
            <a:ext cx="8871585" cy="351536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7620" rIns="0" bIns="0" rtlCol="0">
            <a:noAutofit/>
          </a:bodyPr>
          <a:lstStyle/>
          <a:p>
            <a:pPr marL="82550">
              <a:lnSpc>
                <a:spcPct val="170000"/>
              </a:lnSpc>
              <a:spcBef>
                <a:spcPts val="60"/>
              </a:spcBef>
              <a:spcAft>
                <a:spcPts val="0"/>
              </a:spcAft>
              <a:tabLst>
                <a:tab pos="2689860" algn="l"/>
              </a:tabLst>
            </a:pPr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 : 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H.Ashwaq hussain</a:t>
            </a:r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192425331</a:t>
            </a:r>
            <a:endParaRPr lang="en-IN" altLang="en-US" sz="1900"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96950" lvl="2" indent="457200">
              <a:lnSpc>
                <a:spcPct val="170000"/>
              </a:lnSpc>
              <a:spcBef>
                <a:spcPts val="60"/>
              </a:spcBef>
              <a:spcAft>
                <a:spcPts val="0"/>
              </a:spcAft>
              <a:tabLst>
                <a:tab pos="2689860" algn="l"/>
              </a:tabLst>
            </a:pPr>
            <a:r>
              <a:rPr lang="en-IN" altLang="en-US" sz="19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K.Sadiq hussain 192425108</a:t>
            </a:r>
            <a:endParaRPr lang="en-US" sz="19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96950" lvl="2" indent="457200">
              <a:lnSpc>
                <a:spcPct val="170000"/>
              </a:lnSpc>
              <a:spcBef>
                <a:spcPts val="60"/>
              </a:spcBef>
              <a:spcAft>
                <a:spcPts val="0"/>
              </a:spcAft>
              <a:tabLst>
                <a:tab pos="2689860" algn="l"/>
              </a:tabLst>
            </a:pPr>
            <a:r>
              <a:rPr lang="en-IN" sz="19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900" spc="-2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G.Irtiza</a:t>
            </a:r>
            <a:r>
              <a:rPr lang="en-IN" sz="1900" spc="-2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900" spc="-2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Imad</a:t>
            </a:r>
            <a:r>
              <a:rPr lang="en-IN" sz="1900" spc="-2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192511405</a:t>
            </a:r>
          </a:p>
          <a:p>
            <a:pPr marL="996950" lvl="2" indent="457200">
              <a:lnSpc>
                <a:spcPct val="170000"/>
              </a:lnSpc>
              <a:spcBef>
                <a:spcPts val="60"/>
              </a:spcBef>
              <a:spcAft>
                <a:spcPts val="0"/>
              </a:spcAft>
              <a:tabLst>
                <a:tab pos="2689860" algn="l"/>
              </a:tabLst>
            </a:pPr>
            <a:r>
              <a:rPr lang="en-US" sz="1900" spc="-2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900" spc="-2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B.Manikanteswara</a:t>
            </a:r>
            <a:r>
              <a:rPr lang="en-US" sz="1900" spc="-2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spc="-2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reddy</a:t>
            </a:r>
            <a:r>
              <a:rPr lang="en-US" sz="1900" spc="-2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192372225</a:t>
            </a:r>
            <a:endParaRPr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550">
              <a:lnSpc>
                <a:spcPct val="170000"/>
              </a:lnSpc>
              <a:spcBef>
                <a:spcPts val="60"/>
              </a:spcBef>
              <a:spcAft>
                <a:spcPts val="0"/>
              </a:spcAft>
              <a:tabLst>
                <a:tab pos="2689860" algn="l"/>
              </a:tabLst>
            </a:pPr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 code : 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CSA1613</a:t>
            </a:r>
            <a:endParaRPr lang="en-US" altLang="en-US" sz="19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550">
              <a:lnSpc>
                <a:spcPct val="170000"/>
              </a:lnSpc>
              <a:spcBef>
                <a:spcPts val="60"/>
              </a:spcBef>
              <a:spcAft>
                <a:spcPts val="0"/>
              </a:spcAft>
              <a:tabLst>
                <a:tab pos="2689860" algn="l"/>
              </a:tabLst>
            </a:pPr>
            <a:r>
              <a:rPr lang="en-US" sz="1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          : </a:t>
            </a:r>
            <a:r>
              <a:rPr lang="en-IN" altLang="en-US" sz="1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WAREHOUSING AND DATA MINING</a:t>
            </a:r>
            <a:endParaRPr lang="en-US" sz="19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550">
              <a:lnSpc>
                <a:spcPct val="170000"/>
              </a:lnSpc>
              <a:spcBef>
                <a:spcPts val="60"/>
              </a:spcBef>
              <a:spcAft>
                <a:spcPts val="0"/>
              </a:spcAft>
              <a:tabLst>
                <a:tab pos="2689860" algn="l"/>
              </a:tabLst>
            </a:pPr>
            <a:r>
              <a:rPr lang="en-US" sz="1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name  : </a:t>
            </a:r>
            <a:r>
              <a:rPr lang="en-IN" altLang="en-US" sz="1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RENUGA S</a:t>
            </a:r>
            <a:endParaRPr lang="en-US" sz="1900" spc="-1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82550">
              <a:lnSpc>
                <a:spcPct val="150000"/>
              </a:lnSpc>
              <a:spcBef>
                <a:spcPts val="60"/>
              </a:spcBef>
              <a:spcAft>
                <a:spcPts val="0"/>
              </a:spcAft>
              <a:tabLst>
                <a:tab pos="2689860" algn="l"/>
              </a:tabLst>
            </a:pPr>
            <a:endParaRPr lang="en-US" altLang="en-US" sz="19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550">
              <a:lnSpc>
                <a:spcPct val="150000"/>
              </a:lnSpc>
              <a:spcBef>
                <a:spcPts val="60"/>
              </a:spcBef>
              <a:spcAft>
                <a:spcPts val="0"/>
              </a:spcAft>
              <a:tabLst>
                <a:tab pos="2689860" algn="l"/>
              </a:tabLst>
            </a:pPr>
            <a:endParaRPr lang="en-IN" alt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14960" y="2244090"/>
            <a:ext cx="11593195" cy="8636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0" marR="5080" indent="0" algn="ctr">
              <a:lnSpc>
                <a:spcPts val="3200"/>
              </a:lnSpc>
              <a:spcBef>
                <a:spcPts val="340"/>
              </a:spcBef>
            </a:pPr>
            <a:r>
              <a:rPr lang="en-IN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Retail Analytics for Customer Segmentation and Demand Prediction Using Transaction Mining and Market Basket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609600" y="522605"/>
            <a:ext cx="10972800" cy="889000"/>
          </a:xfrm>
          <a:prstGeom prst="rect">
            <a:avLst/>
          </a:prstGeom>
        </p:spPr>
        <p:txBody>
          <a:bodyPr vert="horz" wrap="square" lIns="0" tIns="217566" rIns="0" bIns="0" rtlCol="0">
            <a:noAutofit/>
          </a:bodyPr>
          <a:lstStyle/>
          <a:p>
            <a:pPr marL="3308985" algn="l">
              <a:lnSpc>
                <a:spcPct val="100000"/>
              </a:lnSpc>
              <a:spcBef>
                <a:spcPts val="100"/>
              </a:spcBef>
            </a:pPr>
            <a:r>
              <a:rPr lang="en-IN" altLang="en-US" b="1" spc="-1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    ABSTRACT</a:t>
            </a:r>
            <a:r>
              <a:rPr lang="en-US" b="1" spc="-1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b="1" spc="-10" dirty="0"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3"/>
          <p:cNvSpPr txBox="1"/>
          <p:nvPr/>
        </p:nvSpPr>
        <p:spPr>
          <a:xfrm>
            <a:off x="533400" y="1765300"/>
            <a:ext cx="11184255" cy="4171950"/>
          </a:xfrm>
          <a:prstGeom prst="rect">
            <a:avLst/>
          </a:prstGeom>
        </p:spPr>
        <p:txBody>
          <a:bodyPr vert="horz" wrap="square" lIns="0" tIns="76835" rIns="0" bIns="0" rtlCol="0">
            <a:noAutofit/>
          </a:bodyPr>
          <a:lstStyle/>
          <a:p>
            <a:pPr marL="342900" indent="-342900" algn="just">
              <a:lnSpc>
                <a:spcPct val="13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/>
                <a:cs typeface="Times New Roman" panose="02020603050405020304"/>
              </a:rPr>
              <a:t>Retail businesses generate large volumes of transaction data, but much of it remains unused.</a:t>
            </a:r>
          </a:p>
          <a:p>
            <a:pPr marL="342900" indent="-342900" algn="just">
              <a:lnSpc>
                <a:spcPct val="13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/>
                <a:cs typeface="Times New Roman" panose="02020603050405020304"/>
              </a:rPr>
              <a:t>Understanding customers, predicting demand, and finding buying patterns manually is slow.</a:t>
            </a:r>
          </a:p>
          <a:p>
            <a:pPr marL="342900" indent="-342900" algn="just">
              <a:lnSpc>
                <a:spcPct val="13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/>
                <a:cs typeface="Times New Roman" panose="02020603050405020304"/>
              </a:rPr>
              <a:t>The proposed system uses data mining and AI to segment customers, forecast demand, and find product associations.</a:t>
            </a:r>
          </a:p>
          <a:p>
            <a:pPr marL="342900" indent="-342900" algn="just">
              <a:lnSpc>
                <a:spcPct val="13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/>
                <a:cs typeface="Times New Roman" panose="02020603050405020304"/>
              </a:rPr>
              <a:t>Transaction data is cleaned and analyzed using RFM clustering, time-series forecasting, and market basket analysis.</a:t>
            </a:r>
          </a:p>
          <a:p>
            <a:pPr marL="342900" indent="-342900" algn="just">
              <a:lnSpc>
                <a:spcPct val="13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/>
                <a:cs typeface="Times New Roman" panose="02020603050405020304"/>
              </a:rPr>
              <a:t>The results identify valuable customer groups, predict future demand, and recommend products bought together.</a:t>
            </a:r>
          </a:p>
          <a:p>
            <a:pPr marL="342900" indent="-342900" algn="just">
              <a:lnSpc>
                <a:spcPct val="13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/>
                <a:cs typeface="Times New Roman" panose="02020603050405020304"/>
              </a:rPr>
              <a:t>The approach supports inventory planning, targeted marketing, and increased sales.</a:t>
            </a:r>
          </a:p>
        </p:txBody>
      </p:sp>
      <p:pic>
        <p:nvPicPr>
          <p:cNvPr id="1302997462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744200" y="381000"/>
            <a:ext cx="1136015" cy="1172210"/>
          </a:xfrm>
          <a:prstGeom prst="rect">
            <a:avLst/>
          </a:prstGeom>
          <a:noFill/>
        </p:spPr>
      </p:pic>
      <p:pic>
        <p:nvPicPr>
          <p:cNvPr id="1751493938" name="Picture 4" descr="Description: E:\SSE\SSE\personal\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457200"/>
            <a:ext cx="1329690" cy="1075690"/>
          </a:xfrm>
          <a:prstGeom prst="rect">
            <a:avLst/>
          </a:prstGeom>
          <a:noFill/>
        </p:spPr>
      </p:pic>
      <p:sp>
        <p:nvSpPr>
          <p:cNvPr id="6" name="object 2"/>
          <p:cNvSpPr/>
          <p:nvPr/>
        </p:nvSpPr>
        <p:spPr>
          <a:xfrm>
            <a:off x="304800" y="332740"/>
            <a:ext cx="11582400" cy="6224270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1493939" name="Picture 1751493938" descr="i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7720" y="2249805"/>
            <a:ext cx="4424680" cy="3919855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1" y="624205"/>
            <a:ext cx="10972799" cy="894080"/>
          </a:xfrm>
          <a:prstGeom prst="rect">
            <a:avLst/>
          </a:prstGeom>
        </p:spPr>
        <p:txBody>
          <a:bodyPr vert="horz" wrap="square" lIns="0" tIns="217566" rIns="0" bIns="0" rtlCol="0">
            <a:spAutoFit/>
          </a:bodyPr>
          <a:lstStyle/>
          <a:p>
            <a:pPr marL="3308985" algn="l">
              <a:lnSpc>
                <a:spcPct val="100000"/>
              </a:lnSpc>
              <a:spcBef>
                <a:spcPts val="100"/>
              </a:spcBef>
            </a:pPr>
            <a:r>
              <a:rPr lang="en-IN" altLang="en-US" b="1" spc="-1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b="1" spc="-1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endParaRPr b="1" spc="-10" dirty="0"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4505" y="1898015"/>
            <a:ext cx="6403340" cy="4127500"/>
          </a:xfrm>
          <a:prstGeom prst="rect">
            <a:avLst/>
          </a:prstGeom>
        </p:spPr>
        <p:txBody>
          <a:bodyPr vert="horz" wrap="square" lIns="0" tIns="76835" rIns="0" bIns="0" rtlCol="0">
            <a:no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2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Retail stores record millions of customer transactions.</a:t>
            </a:r>
            <a:endParaRPr lang="en-US" altLang="en-GB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2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Data mining finds hidden patterns in transaction data.</a:t>
            </a:r>
            <a:endParaRPr lang="en-US" altLang="en-GB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2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Customer segmentation groups similar shoppers.</a:t>
            </a:r>
            <a:endParaRPr lang="en-US" altLang="en-GB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2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Demand prediction forecasts future sales.</a:t>
            </a:r>
            <a:endParaRPr lang="en-US" altLang="en-GB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2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Market basket analysis finds products bought together.</a:t>
            </a:r>
            <a:endParaRPr lang="en-US" altLang="en-US" sz="2100" dirty="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1302997462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68000" y="457200"/>
            <a:ext cx="1136015" cy="1333500"/>
          </a:xfrm>
          <a:prstGeom prst="rect">
            <a:avLst/>
          </a:prstGeom>
          <a:noFill/>
        </p:spPr>
      </p:pic>
      <p:pic>
        <p:nvPicPr>
          <p:cNvPr id="1751493938" name="Picture 4" descr="Description: E:\SSE\SSE\personal\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533400"/>
            <a:ext cx="1329690" cy="1172210"/>
          </a:xfrm>
          <a:prstGeom prst="rect">
            <a:avLst/>
          </a:prstGeom>
          <a:noFill/>
        </p:spPr>
      </p:pic>
      <p:sp>
        <p:nvSpPr>
          <p:cNvPr id="5" name="object 2"/>
          <p:cNvSpPr/>
          <p:nvPr/>
        </p:nvSpPr>
        <p:spPr>
          <a:xfrm>
            <a:off x="304800" y="332740"/>
            <a:ext cx="11582400" cy="6109335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625604"/>
            <a:ext cx="10896600" cy="894080"/>
          </a:xfrm>
          <a:prstGeom prst="rect">
            <a:avLst/>
          </a:prstGeom>
        </p:spPr>
        <p:txBody>
          <a:bodyPr vert="horz" wrap="square" lIns="0" tIns="217566" rIns="0" bIns="0" rtlCol="0">
            <a:spAutoFit/>
          </a:bodyPr>
          <a:lstStyle/>
          <a:p>
            <a:pPr marL="2513965" algn="l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b="1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81000" y="1751648"/>
            <a:ext cx="7258685" cy="44538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2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Retailers collect huge transaction data but struggle to turn it into useful insights.</a:t>
            </a:r>
            <a:endParaRPr lang="en-US" altLang="en-GB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2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Treating all customers alike leads to ineffective marketing and lost sales.</a:t>
            </a:r>
            <a:endParaRPr lang="en-US" altLang="en-GB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2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Inaccurate demand estimation causes stock-outs or overstocking of products.</a:t>
            </a:r>
            <a:endParaRPr lang="en-US" altLang="en-GB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2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Buying patterns across thousands of products are difficult to find manually.</a:t>
            </a:r>
            <a:endParaRPr lang="en-US" altLang="en-GB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2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An AI-driven system is needed to segment customers, predict demand, and recommend products.</a:t>
            </a: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4" descr="Description: E:\SSE\SSE\personal\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533400"/>
            <a:ext cx="1329690" cy="1172210"/>
          </a:xfrm>
          <a:prstGeom prst="rect">
            <a:avLst/>
          </a:prstGeom>
          <a:noFill/>
        </p:spPr>
      </p:pic>
      <p:pic>
        <p:nvPicPr>
          <p:cNvPr id="1302997462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68000" y="457200"/>
            <a:ext cx="1136015" cy="1333500"/>
          </a:xfrm>
          <a:prstGeom prst="rect">
            <a:avLst/>
          </a:prstGeom>
          <a:noFill/>
        </p:spPr>
      </p:pic>
      <p:sp>
        <p:nvSpPr>
          <p:cNvPr id="4" name="object 2"/>
          <p:cNvSpPr/>
          <p:nvPr/>
        </p:nvSpPr>
        <p:spPr>
          <a:xfrm>
            <a:off x="304800" y="332740"/>
            <a:ext cx="11582400" cy="6109335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6992" y="2366381"/>
            <a:ext cx="3655276" cy="32244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38400" y="832485"/>
            <a:ext cx="6731635" cy="85407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1301115" algn="l"/>
              </a:tabLst>
            </a:pPr>
            <a:r>
              <a:rPr lang="en-US" sz="4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OBJECTIVE</a:t>
            </a:r>
            <a:endParaRPr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6715" y="1790700"/>
            <a:ext cx="7106285" cy="41922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Collect and clean retail transaction data.</a:t>
            </a:r>
            <a:endParaRPr lang="en-US" alt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Segment customers using RFM analysis and clustering.</a:t>
            </a:r>
            <a:endParaRPr lang="en-US" alt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Forecast product demand using time-series and machine learning models.</a:t>
            </a:r>
            <a:endParaRPr lang="en-US" alt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Find frequent itemsets and association rules.</a:t>
            </a:r>
            <a:endParaRPr lang="en-US" alt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Evaluate segmentation, forecasting, and recommendation results.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02997462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68000" y="457200"/>
            <a:ext cx="1136015" cy="1333500"/>
          </a:xfrm>
          <a:prstGeom prst="rect">
            <a:avLst/>
          </a:prstGeom>
          <a:noFill/>
        </p:spPr>
      </p:pic>
      <p:pic>
        <p:nvPicPr>
          <p:cNvPr id="3" name="Picture 4" descr="Description: E:\SSE\SSE\personal\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533400"/>
            <a:ext cx="1329690" cy="1172210"/>
          </a:xfrm>
          <a:prstGeom prst="rect">
            <a:avLst/>
          </a:prstGeom>
          <a:noFill/>
        </p:spPr>
      </p:pic>
      <p:sp>
        <p:nvSpPr>
          <p:cNvPr id="5" name="object 2"/>
          <p:cNvSpPr/>
          <p:nvPr/>
        </p:nvSpPr>
        <p:spPr>
          <a:xfrm>
            <a:off x="304800" y="332740"/>
            <a:ext cx="11582400" cy="6109335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02997463" name="Picture 1302997462" descr="obj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1595" y="1947545"/>
            <a:ext cx="3834765" cy="40354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/>
          <p:nvPr/>
        </p:nvSpPr>
        <p:spPr>
          <a:xfrm>
            <a:off x="294005" y="607060"/>
            <a:ext cx="11687175" cy="62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 REVIEW</a:t>
            </a:r>
          </a:p>
          <a:p>
            <a:pPr algn="ctr"/>
            <a:endParaRPr lang="en-US" alt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02997462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68000" y="457200"/>
            <a:ext cx="1136015" cy="1333500"/>
          </a:xfrm>
          <a:prstGeom prst="rect">
            <a:avLst/>
          </a:prstGeom>
          <a:noFill/>
        </p:spPr>
      </p:pic>
      <p:pic>
        <p:nvPicPr>
          <p:cNvPr id="6" name="Picture 4" descr="Description: E:\SSE\SSE\personal\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533400"/>
            <a:ext cx="1329690" cy="1172210"/>
          </a:xfrm>
          <a:prstGeom prst="rect">
            <a:avLst/>
          </a:prstGeom>
          <a:noFill/>
        </p:spPr>
      </p:pic>
      <p:sp>
        <p:nvSpPr>
          <p:cNvPr id="7" name="object 2"/>
          <p:cNvSpPr/>
          <p:nvPr/>
        </p:nvSpPr>
        <p:spPr>
          <a:xfrm>
            <a:off x="304800" y="332740"/>
            <a:ext cx="11582400" cy="6224270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302997463" name="Table 1302997462"/>
          <p:cNvGraphicFramePr>
            <a:graphicFrameLocks noGrp="1"/>
          </p:cNvGraphicFramePr>
          <p:nvPr/>
        </p:nvGraphicFramePr>
        <p:xfrm>
          <a:off x="574675" y="1790700"/>
          <a:ext cx="11262358" cy="4658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737"/>
                <a:gridCol w="2742457"/>
                <a:gridCol w="3930856"/>
                <a:gridCol w="3766308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Year</a:t>
                      </a:r>
                    </a:p>
                  </a:txBody>
                  <a:tcPr anchor="ctr">
                    <a:solidFill>
                      <a:srgbClr val="1F5C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Author / Work</a:t>
                      </a:r>
                    </a:p>
                  </a:txBody>
                  <a:tcPr anchor="ctr">
                    <a:solidFill>
                      <a:srgbClr val="1F5C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Key Ideas</a:t>
                      </a:r>
                    </a:p>
                  </a:txBody>
                  <a:tcPr anchor="ctr">
                    <a:solidFill>
                      <a:srgbClr val="1F5C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Relevance / Gap</a:t>
                      </a:r>
                    </a:p>
                  </a:txBody>
                  <a:tcPr anchor="ctr">
                    <a:solidFill>
                      <a:srgbClr val="1F5CA8"/>
                    </a:solidFill>
                  </a:tcPr>
                </a:tc>
              </a:tr>
              <a:tr h="840359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Times New Roman" panose="02020603050405020304"/>
                        </a:rPr>
                        <a:t>1994</a:t>
                      </a:r>
                    </a:p>
                  </a:txBody>
                  <a:tcPr anchor="ctr">
                    <a:solidFill>
                      <a:srgbClr val="DCE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Times New Roman" panose="02020603050405020304"/>
                        </a:rPr>
                        <a:t>R. Agrawal &amp; R. Srikant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Times New Roman" panose="02020603050405020304"/>
                        </a:rPr>
                        <a:t>(Apriori Algorithm)</a:t>
                      </a:r>
                    </a:p>
                  </a:txBody>
                  <a:tcPr anchor="ctr">
                    <a:solidFill>
                      <a:srgbClr val="DCE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Times New Roman" panose="02020603050405020304"/>
                        </a:rPr>
                        <a:t>Introduced the Apriori algorithm to find frequent itemsets and association rules.</a:t>
                      </a:r>
                    </a:p>
                  </a:txBody>
                  <a:tcPr anchor="ctr">
                    <a:solidFill>
                      <a:srgbClr val="DCE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Times New Roman" panose="02020603050405020304"/>
                        </a:rPr>
                        <a:t>Foundation for market basket analysis, but candidate generation is costly on large data.</a:t>
                      </a:r>
                    </a:p>
                  </a:txBody>
                  <a:tcPr anchor="ctr">
                    <a:solidFill>
                      <a:srgbClr val="DCE9F7"/>
                    </a:solidFill>
                  </a:tcPr>
                </a:tc>
              </a:tr>
              <a:tr h="840359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Times New Roman" panose="02020603050405020304"/>
                        </a:rPr>
                        <a:t>2000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Times New Roman" panose="02020603050405020304"/>
                        </a:rPr>
                        <a:t>J. Han et al.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Times New Roman" panose="02020603050405020304"/>
                        </a:rPr>
                        <a:t>(FP-Growth)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Times New Roman" panose="02020603050405020304"/>
                        </a:rPr>
                        <a:t>Proposed the FP-tree to mine frequent patterns without candidate generation.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Times New Roman" panose="02020603050405020304"/>
                        </a:rPr>
                        <a:t>Faster rule mining, but not combined with segmentation or demand forecasting.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</a:tr>
              <a:tr h="840359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Times New Roman" panose="02020603050405020304"/>
                        </a:rPr>
                        <a:t>2012</a:t>
                      </a:r>
                    </a:p>
                  </a:txBody>
                  <a:tcPr anchor="ctr">
                    <a:solidFill>
                      <a:srgbClr val="DCE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Times New Roman" panose="02020603050405020304"/>
                        </a:rPr>
                        <a:t>D. Chen et al.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Times New Roman" panose="02020603050405020304"/>
                        </a:rPr>
                        <a:t>(RFM Customer Segmentation)</a:t>
                      </a:r>
                    </a:p>
                  </a:txBody>
                  <a:tcPr anchor="ctr">
                    <a:solidFill>
                      <a:srgbClr val="DCE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Times New Roman" panose="02020603050405020304"/>
                        </a:rPr>
                        <a:t>Used RFM features and clustering on online retail transactions to group customers.</a:t>
                      </a:r>
                    </a:p>
                  </a:txBody>
                  <a:tcPr anchor="ctr">
                    <a:solidFill>
                      <a:srgbClr val="DCE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Times New Roman" panose="02020603050405020304"/>
                        </a:rPr>
                        <a:t>Useful for customer groups, but does not include demand prediction.</a:t>
                      </a:r>
                    </a:p>
                  </a:txBody>
                  <a:tcPr anchor="ctr">
                    <a:solidFill>
                      <a:srgbClr val="DCE9F7"/>
                    </a:solidFill>
                  </a:tcPr>
                </a:tc>
              </a:tr>
              <a:tr h="840359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Times New Roman" panose="02020603050405020304"/>
                        </a:rPr>
                        <a:t>2016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Times New Roman" panose="02020603050405020304"/>
                        </a:rPr>
                        <a:t>T. Chen &amp; C. Guestrin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Times New Roman" panose="02020603050405020304"/>
                        </a:rPr>
                        <a:t>(XGBoost)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Times New Roman" panose="02020603050405020304"/>
                        </a:rPr>
                        <a:t>Scalable gradient boosting that performs strongly on tabular prediction tasks.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Times New Roman" panose="02020603050405020304"/>
                        </a:rPr>
                        <a:t>Suitable for demand prediction, but needs well-engineered retail features.</a:t>
                      </a:r>
                    </a:p>
                  </a:txBody>
                  <a:tcPr anchor="ctr">
                    <a:solidFill>
                      <a:srgbClr val="F2F7FC"/>
                    </a:solidFill>
                  </a:tcPr>
                </a:tc>
              </a:tr>
              <a:tr h="840359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Times New Roman" panose="02020603050405020304"/>
                        </a:rPr>
                        <a:t>2018</a:t>
                      </a:r>
                    </a:p>
                  </a:txBody>
                  <a:tcPr anchor="ctr">
                    <a:solidFill>
                      <a:srgbClr val="DCE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Times New Roman" panose="02020603050405020304"/>
                        </a:rPr>
                        <a:t>S. J. Taylor &amp; B. Letham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Times New Roman" panose="02020603050405020304"/>
                        </a:rPr>
                        <a:t>(Prophet)</a:t>
                      </a:r>
                    </a:p>
                  </a:txBody>
                  <a:tcPr anchor="ctr">
                    <a:solidFill>
                      <a:srgbClr val="DCE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Times New Roman" panose="02020603050405020304"/>
                        </a:rPr>
                        <a:t>Decomposable trend, seasonality and holiday model for business forecasting.</a:t>
                      </a:r>
                    </a:p>
                  </a:txBody>
                  <a:tcPr anchor="ctr">
                    <a:solidFill>
                      <a:srgbClr val="DCE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Times New Roman" panose="02020603050405020304"/>
                        </a:rPr>
                        <a:t>Handles retail seasonality, but is not linked to basket analysis.</a:t>
                      </a:r>
                    </a:p>
                  </a:txBody>
                  <a:tcPr anchor="ctr">
                    <a:solidFill>
                      <a:srgbClr val="DCE9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2997463" name="Picture 1302997462" descr="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690" y="968375"/>
            <a:ext cx="11056620" cy="54737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4005" y="285115"/>
            <a:ext cx="11687175" cy="7715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</a:p>
        </p:txBody>
      </p:sp>
      <p:pic>
        <p:nvPicPr>
          <p:cNvPr id="1302997462" name="Picture 3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912475" y="385445"/>
            <a:ext cx="891540" cy="671195"/>
          </a:xfrm>
          <a:prstGeom prst="rect">
            <a:avLst/>
          </a:prstGeom>
          <a:noFill/>
        </p:spPr>
      </p:pic>
      <p:pic>
        <p:nvPicPr>
          <p:cNvPr id="3" name="Picture 4" descr="Description: E:\SSE\SSE\personal\logo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385445"/>
            <a:ext cx="1114425" cy="582295"/>
          </a:xfrm>
          <a:prstGeom prst="rect">
            <a:avLst/>
          </a:prstGeom>
          <a:noFill/>
        </p:spPr>
      </p:pic>
      <p:sp>
        <p:nvSpPr>
          <p:cNvPr id="5" name="object 2"/>
          <p:cNvSpPr/>
          <p:nvPr/>
        </p:nvSpPr>
        <p:spPr>
          <a:xfrm>
            <a:off x="304800" y="285115"/>
            <a:ext cx="11582400" cy="6156960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304800" y="371475"/>
            <a:ext cx="11582400" cy="6070600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 Box 4"/>
          <p:cNvSpPr txBox="1"/>
          <p:nvPr/>
        </p:nvSpPr>
        <p:spPr>
          <a:xfrm>
            <a:off x="1767205" y="565785"/>
            <a:ext cx="9137015" cy="15411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3700" b="1" spc="-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Module 1 : Transaction Data Mining &amp; Customer Segmentation</a:t>
            </a:r>
            <a:endParaRPr lang="en-US" altLang="en-US" sz="3700" b="1" spc="-1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altLang="en-US" sz="4000" b="1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4400" b="1" spc="-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/>
            </a:r>
            <a:br>
              <a:rPr lang="en-US" altLang="en-US" sz="4400" b="1" spc="-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endParaRPr lang="en-IN" altLang="en-US" sz="4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744200" y="685800"/>
            <a:ext cx="1136015" cy="1158875"/>
          </a:xfrm>
          <a:prstGeom prst="rect">
            <a:avLst/>
          </a:prstGeom>
          <a:noFill/>
        </p:spPr>
      </p:pic>
      <p:pic>
        <p:nvPicPr>
          <p:cNvPr id="7" name="Picture 4" descr="Description: E:\SSE\SSE\personal\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685800"/>
            <a:ext cx="1310005" cy="1158875"/>
          </a:xfrm>
          <a:prstGeom prst="rect">
            <a:avLst/>
          </a:prstGeom>
          <a:noFill/>
        </p:spPr>
      </p:pic>
      <p:sp>
        <p:nvSpPr>
          <p:cNvPr id="8" name="Text Box 7"/>
          <p:cNvSpPr txBox="1"/>
          <p:nvPr/>
        </p:nvSpPr>
        <p:spPr>
          <a:xfrm>
            <a:off x="457200" y="1845310"/>
            <a:ext cx="6097905" cy="45961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342900" lvl="0" indent="-342900" algn="just" eaLnBrk="0" fontAlgn="base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GB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Collect POS and online sales data.</a:t>
            </a:r>
            <a:endParaRPr lang="en-US" alt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eaLnBrk="0" fontAlgn="base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GB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Remove duplicates and missing values.</a:t>
            </a:r>
            <a:endParaRPr lang="en-US" alt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eaLnBrk="0" fontAlgn="base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GB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Build RFM features per customer.</a:t>
            </a:r>
            <a:endParaRPr lang="en-US" alt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eaLnBrk="0" fontAlgn="base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GB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Apply K-Means to group customers.</a:t>
            </a:r>
            <a:endParaRPr lang="en-US" alt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eaLnBrk="0" fontAlgn="base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GB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Label segments like Loyal, At-risk.</a:t>
            </a:r>
          </a:p>
          <a:p>
            <a:pPr marL="342900" lvl="0" indent="-342900" algn="just" eaLnBrk="0" fontAlgn="base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2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13" name="Picture 12" descr="m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5785" y="2106295"/>
            <a:ext cx="4712970" cy="4032250"/>
          </a:xfrm>
          <a:prstGeom prst="rect">
            <a:avLst/>
          </a:prstGeom>
        </p:spPr>
      </p:pic>
      <p:pic>
        <p:nvPicPr>
          <p:cNvPr id="14" name="Picture 13" descr="f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535" y="4528185"/>
            <a:ext cx="6097270" cy="1767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15"/>
          <p:cNvSpPr txBox="1"/>
          <p:nvPr/>
        </p:nvSpPr>
        <p:spPr>
          <a:xfrm>
            <a:off x="1771015" y="489585"/>
            <a:ext cx="8972550" cy="11582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3700" b="1" spc="-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Module 2 : Demand Prediction &amp; Sales Forecasting</a:t>
            </a:r>
            <a:endParaRPr lang="en-US" altLang="en-US" sz="3700" b="1" spc="-1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4400" b="1" spc="-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/>
            </a:r>
            <a:br>
              <a:rPr lang="en-US" altLang="en-US" sz="4400" b="1" spc="-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endParaRPr lang="en-IN" altLang="en-US" sz="4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744200" y="685800"/>
            <a:ext cx="1136015" cy="1158875"/>
          </a:xfrm>
          <a:prstGeom prst="rect">
            <a:avLst/>
          </a:prstGeom>
          <a:noFill/>
        </p:spPr>
      </p:pic>
      <p:pic>
        <p:nvPicPr>
          <p:cNvPr id="18" name="Picture 4" descr="Description: E:\SSE\SSE\personal\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685800"/>
            <a:ext cx="1310005" cy="1158875"/>
          </a:xfrm>
          <a:prstGeom prst="rect">
            <a:avLst/>
          </a:prstGeom>
          <a:noFill/>
        </p:spPr>
      </p:pic>
      <p:sp>
        <p:nvSpPr>
          <p:cNvPr id="19" name="Text Box 18"/>
          <p:cNvSpPr txBox="1"/>
          <p:nvPr/>
        </p:nvSpPr>
        <p:spPr>
          <a:xfrm>
            <a:off x="304165" y="1845310"/>
            <a:ext cx="6613525" cy="24580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342900" lvl="0" indent="-342900" eaLnBrk="0" fontAlgn="base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GB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Prepare weekly sales per product.</a:t>
            </a:r>
            <a:endParaRPr lang="en-US" alt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GB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Identify trend and seasonality.</a:t>
            </a:r>
            <a:endParaRPr lang="en-US" alt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GB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Build ARIMA and Prophet models.</a:t>
            </a:r>
            <a:endParaRPr lang="en-US" alt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GB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Train ML models like XGBoost.</a:t>
            </a:r>
            <a:endParaRPr lang="en-US" alt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GB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Compare models, predict demand.</a:t>
            </a:r>
            <a:endParaRPr lang="en-US" altLang="en-US" sz="22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1" name="object 2"/>
          <p:cNvSpPr/>
          <p:nvPr/>
        </p:nvSpPr>
        <p:spPr>
          <a:xfrm>
            <a:off x="304800" y="371475"/>
            <a:ext cx="11648440" cy="6070600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Picture 21" descr="m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7055" y="1957070"/>
            <a:ext cx="4925695" cy="4352925"/>
          </a:xfrm>
          <a:prstGeom prst="rect">
            <a:avLst/>
          </a:prstGeom>
        </p:spPr>
      </p:pic>
      <p:pic>
        <p:nvPicPr>
          <p:cNvPr id="23" name="Picture 22" descr="f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080510"/>
            <a:ext cx="6165850" cy="22294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304800" y="371475"/>
            <a:ext cx="11582400" cy="6070600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 Box 8"/>
          <p:cNvSpPr txBox="1"/>
          <p:nvPr/>
        </p:nvSpPr>
        <p:spPr>
          <a:xfrm>
            <a:off x="1594485" y="489585"/>
            <a:ext cx="9309735" cy="11582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3700" b="1" spc="-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Module 3 : Market Basket Analysis &amp; Retail Recommendations</a:t>
            </a:r>
            <a:endParaRPr lang="en-US" altLang="en-GB" sz="3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IN" altLang="en-US" sz="37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744200" y="488950"/>
            <a:ext cx="1136015" cy="1158875"/>
          </a:xfrm>
          <a:prstGeom prst="rect">
            <a:avLst/>
          </a:prstGeom>
          <a:noFill/>
        </p:spPr>
      </p:pic>
      <p:pic>
        <p:nvPicPr>
          <p:cNvPr id="12" name="Picture 4" descr="Description: E:\SSE\SSE\personal\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488950"/>
            <a:ext cx="1310005" cy="1158875"/>
          </a:xfrm>
          <a:prstGeom prst="rect">
            <a:avLst/>
          </a:prstGeom>
          <a:noFill/>
        </p:spPr>
      </p:pic>
      <p:sp>
        <p:nvSpPr>
          <p:cNvPr id="13" name="Text Box 12"/>
          <p:cNvSpPr txBox="1"/>
          <p:nvPr/>
        </p:nvSpPr>
        <p:spPr>
          <a:xfrm>
            <a:off x="304800" y="1720215"/>
            <a:ext cx="6891655" cy="45478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342900" lvl="0" indent="-342900" algn="just" eaLnBrk="0" fontAlgn="base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GB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Convert data to basket format.</a:t>
            </a:r>
            <a:endParaRPr lang="en-US" alt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eaLnBrk="0" fontAlgn="base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GB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Find itemsets with Apriori / FP-Growth.</a:t>
            </a:r>
            <a:endParaRPr lang="en-US" alt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eaLnBrk="0" fontAlgn="base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GB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Generate rules (support, confidence).</a:t>
            </a:r>
            <a:endParaRPr lang="en-US" alt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eaLnBrk="0" fontAlgn="base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GB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Rank rules using lift.</a:t>
            </a:r>
            <a:endParaRPr lang="en-US" alt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eaLnBrk="0" fontAlgn="base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GB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Recommend bundles and cross-sell.</a:t>
            </a:r>
            <a:endParaRPr lang="en-US" altLang="en-US" sz="22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14" name="Picture 13" descr="m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7650" y="1933575"/>
            <a:ext cx="5118735" cy="4334510"/>
          </a:xfrm>
          <a:prstGeom prst="rect">
            <a:avLst/>
          </a:prstGeom>
        </p:spPr>
      </p:pic>
      <p:pic>
        <p:nvPicPr>
          <p:cNvPr id="15" name="Picture 14" descr="f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095" y="3977640"/>
            <a:ext cx="5543550" cy="23609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1955165" y="796290"/>
            <a:ext cx="8074660" cy="7518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altLang="en-GB" sz="44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IMPLEMENTATION </a:t>
            </a:r>
            <a:endParaRPr lang="en-IN" altLang="en-US" sz="44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68000" y="457200"/>
            <a:ext cx="1136015" cy="1090930"/>
          </a:xfrm>
          <a:prstGeom prst="rect">
            <a:avLst/>
          </a:prstGeom>
          <a:noFill/>
        </p:spPr>
      </p:pic>
      <p:pic>
        <p:nvPicPr>
          <p:cNvPr id="6" name="Picture 4" descr="Description: E:\SSE\SSE\personal\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6725" y="457200"/>
            <a:ext cx="1310005" cy="963930"/>
          </a:xfrm>
          <a:prstGeom prst="rect">
            <a:avLst/>
          </a:prstGeom>
          <a:noFill/>
        </p:spPr>
      </p:pic>
      <p:sp>
        <p:nvSpPr>
          <p:cNvPr id="8" name="object 2"/>
          <p:cNvSpPr/>
          <p:nvPr/>
        </p:nvSpPr>
        <p:spPr>
          <a:xfrm>
            <a:off x="304800" y="371475"/>
            <a:ext cx="11582400" cy="6070600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Picture 8" descr="impl_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7955" y="1641475"/>
            <a:ext cx="6411595" cy="4668520"/>
          </a:xfrm>
          <a:prstGeom prst="rect">
            <a:avLst/>
          </a:prstGeom>
        </p:spPr>
      </p:pic>
      <p:pic>
        <p:nvPicPr>
          <p:cNvPr id="10" name="Picture 9" descr="impl_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225" y="1641475"/>
            <a:ext cx="4712970" cy="46691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/>
          <p:nvPr/>
        </p:nvPicPr>
        <p:blipFill>
          <a:blip r:embed="rId2"/>
          <a:stretch>
            <a:fillRect/>
          </a:stretch>
        </p:blipFill>
        <p:spPr>
          <a:xfrm>
            <a:off x="8567420" y="2134870"/>
            <a:ext cx="3476625" cy="4072255"/>
          </a:xfrm>
          <a:prstGeom prst="rect">
            <a:avLst/>
          </a:prstGeom>
        </p:spPr>
      </p:pic>
      <p:sp>
        <p:nvSpPr>
          <p:cNvPr id="4" name="object 2"/>
          <p:cNvSpPr/>
          <p:nvPr/>
        </p:nvSpPr>
        <p:spPr>
          <a:xfrm>
            <a:off x="304800" y="371475"/>
            <a:ext cx="11582400" cy="6070600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 Box 4"/>
          <p:cNvSpPr txBox="1"/>
          <p:nvPr/>
        </p:nvSpPr>
        <p:spPr>
          <a:xfrm>
            <a:off x="1955165" y="796290"/>
            <a:ext cx="8074660" cy="7518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altLang="en-US" sz="44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TOOLS &amp; TECHNOLOGIES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395605" y="1600200"/>
            <a:ext cx="10002520" cy="49390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Frontend</a:t>
            </a:r>
          </a:p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Streamlit – To build the interactive retail analytics dashboard.</a:t>
            </a:r>
          </a:p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Plotly – For interactive charts of segments, sales, and rules.</a:t>
            </a:r>
          </a:p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HTML &amp; CSS – For designing and structuring the web pages.</a:t>
            </a:r>
          </a:p>
          <a:p>
            <a:pPr indent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Backend</a:t>
            </a:r>
          </a:p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Python – For data mining, forecasting, and recommendation logic.</a:t>
            </a:r>
          </a:p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SQL / SQLite – To store and query retail transaction data.</a:t>
            </a:r>
          </a:p>
          <a:p>
            <a:pPr indent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Data &amp; Machine Learning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Pandas &amp; NumPy – For data cleaning, RFM features, and calculations.</a:t>
            </a:r>
          </a:p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Scikit-learn – For K-Means clustering and XGBoost-style models.</a:t>
            </a:r>
          </a:p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Statsmodels / Prophet – For time-series sales forecasting.</a:t>
            </a:r>
          </a:p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mlxtend – For Apriori, FP-Growth, and association rules.</a:t>
            </a: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68000" y="457200"/>
            <a:ext cx="1136015" cy="1333500"/>
          </a:xfrm>
          <a:prstGeom prst="rect">
            <a:avLst/>
          </a:prstGeom>
          <a:noFill/>
        </p:spPr>
      </p:pic>
      <p:pic>
        <p:nvPicPr>
          <p:cNvPr id="8" name="Picture 4" descr="Description: E:\SSE\SSE\personal\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6725" y="457200"/>
            <a:ext cx="1310005" cy="12801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1955165" y="466090"/>
            <a:ext cx="8074660" cy="7518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altLang="en-IN" sz="44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RESULTS</a:t>
            </a: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881360" y="457200"/>
            <a:ext cx="922655" cy="741045"/>
          </a:xfrm>
          <a:prstGeom prst="rect">
            <a:avLst/>
          </a:prstGeom>
          <a:noFill/>
        </p:spPr>
      </p:pic>
      <p:pic>
        <p:nvPicPr>
          <p:cNvPr id="6" name="Picture 4" descr="Description: E:\SSE\SSE\personal\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6725" y="457200"/>
            <a:ext cx="851535" cy="760730"/>
          </a:xfrm>
          <a:prstGeom prst="rect">
            <a:avLst/>
          </a:prstGeom>
          <a:noFill/>
        </p:spPr>
      </p:pic>
      <p:sp>
        <p:nvSpPr>
          <p:cNvPr id="2" name="object 2"/>
          <p:cNvSpPr/>
          <p:nvPr/>
        </p:nvSpPr>
        <p:spPr>
          <a:xfrm>
            <a:off x="304800" y="332740"/>
            <a:ext cx="11582400" cy="6109335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Picture 8" descr="resul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1296035"/>
            <a:ext cx="10989945" cy="48634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1955165" y="796290"/>
            <a:ext cx="8074660" cy="7518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altLang="en-US" sz="44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FUTURE ENHANCEMENTS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469900" y="1808480"/>
            <a:ext cx="6859270" cy="47796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GB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Real-time retail data can improve accuracy.</a:t>
            </a:r>
            <a:endParaRPr lang="en-US" alt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GB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Deep learning (LSTM) can improve forecasting.</a:t>
            </a:r>
            <a:endParaRPr lang="en-US" alt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GB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Personalized recommendations per customer.</a:t>
            </a:r>
            <a:endParaRPr lang="en-US" alt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GB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Dynamic pricing and auto stock replenishment.</a:t>
            </a:r>
            <a:endParaRPr lang="en-US" alt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GB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Extension to mobile and cloud retail platforms.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68000" y="457200"/>
            <a:ext cx="1136015" cy="1212850"/>
          </a:xfrm>
          <a:prstGeom prst="rect">
            <a:avLst/>
          </a:prstGeom>
          <a:noFill/>
        </p:spPr>
      </p:pic>
      <p:pic>
        <p:nvPicPr>
          <p:cNvPr id="6" name="Picture 4" descr="Description: E:\SSE\SSE\personal\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6725" y="457200"/>
            <a:ext cx="1310005" cy="1170305"/>
          </a:xfrm>
          <a:prstGeom prst="rect">
            <a:avLst/>
          </a:prstGeom>
          <a:noFill/>
        </p:spPr>
      </p:pic>
      <p:sp>
        <p:nvSpPr>
          <p:cNvPr id="2" name="object 2"/>
          <p:cNvSpPr/>
          <p:nvPr/>
        </p:nvSpPr>
        <p:spPr>
          <a:xfrm>
            <a:off x="304800" y="332740"/>
            <a:ext cx="11582400" cy="6109335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2451" y="2334389"/>
            <a:ext cx="3470651" cy="311358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04800" y="371475"/>
            <a:ext cx="11582400" cy="6070600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Text Box 5"/>
          <p:cNvSpPr txBox="1"/>
          <p:nvPr/>
        </p:nvSpPr>
        <p:spPr>
          <a:xfrm>
            <a:off x="2667000" y="706120"/>
            <a:ext cx="6096000" cy="7042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altLang="en-US" sz="44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</a:t>
            </a:r>
            <a:r>
              <a:rPr lang="en-IN" altLang="en-US" sz="44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ONCLUSION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533400" y="1790700"/>
            <a:ext cx="7028815" cy="47707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proposed system uses data mining and AI to turn retail transaction data into useful business insights.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Customer segmentation using RFM and clustering identifies valuable and at-risk customer groups.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Demand prediction and sales forecasting help in better inventory planning and stock management.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Market basket analysis discovers product associations that support cross-selling and targeted recommendations.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68000" y="457200"/>
            <a:ext cx="1136015" cy="1333500"/>
          </a:xfrm>
          <a:prstGeom prst="rect">
            <a:avLst/>
          </a:prstGeom>
          <a:noFill/>
        </p:spPr>
      </p:pic>
      <p:pic>
        <p:nvPicPr>
          <p:cNvPr id="9" name="Picture 4" descr="Description: E:\SSE\SSE\personal\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6725" y="457200"/>
            <a:ext cx="1310005" cy="1280160"/>
          </a:xfrm>
          <a:prstGeom prst="rect">
            <a:avLst/>
          </a:prstGeom>
          <a:noFill/>
        </p:spPr>
      </p:pic>
      <p:pic>
        <p:nvPicPr>
          <p:cNvPr id="10" name="Picture 9" descr="conc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3525" y="2099945"/>
            <a:ext cx="3705225" cy="39954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304800" y="371475"/>
            <a:ext cx="11582400" cy="6070600"/>
          </a:xfrm>
          <a:custGeom>
            <a:avLst/>
            <a:gdLst/>
            <a:ahLst/>
            <a:cxnLst/>
            <a:rect l="l" t="t" r="r" b="b"/>
            <a:pathLst>
              <a:path w="11688445" h="6194425">
                <a:moveTo>
                  <a:pt x="0" y="0"/>
                </a:moveTo>
                <a:lnTo>
                  <a:pt x="11687987" y="0"/>
                </a:lnTo>
                <a:lnTo>
                  <a:pt x="11687987" y="6194256"/>
                </a:lnTo>
                <a:lnTo>
                  <a:pt x="0" y="619425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 Box 4"/>
          <p:cNvSpPr txBox="1"/>
          <p:nvPr/>
        </p:nvSpPr>
        <p:spPr>
          <a:xfrm>
            <a:off x="2667000" y="706120"/>
            <a:ext cx="6383020" cy="7042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REFERENCES</a:t>
            </a:r>
            <a:endParaRPr lang="en-IN" altLang="en-US" sz="44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533400" y="1790700"/>
            <a:ext cx="11039475" cy="47707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R. Agrawal and R. Srikant (1994), “Fast Algorithms for Mining Association Rules,” Proc. 20th International Conference on Very Large Data Bases (VLDB), pp. 487–499.</a:t>
            </a:r>
          </a:p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J. Han, J. Pei, and Y. Yin (2000), “Mining Frequent Patterns without Candidate Generation,” Proc. ACM SIGMOD International Conference on Management of Data, pp. 1–12.</a:t>
            </a:r>
          </a:p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D. Chen, S. L. Sain, and K. Guo (2012), “Data Mining for the Online Retail Industry: A Case Study of RFM Model-Based Customer Segmentation Using Data Mining,” Journal of Database Marketing &amp; Customer Strategy Management, Vol. 19, No. 3, pp. 197–208.</a:t>
            </a:r>
          </a:p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T. Chen and C. Guestrin (2016), “XGBoost: A Scalable Tree Boosting System,” Proc. 22nd ACM SIGKDD International Conference on Knowledge Discovery and Data Mining, pp. 785–794.</a:t>
            </a:r>
          </a:p>
          <a:p>
            <a:pPr marL="342900" indent="-3429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S. J. Taylor and B. Letham (2018), “Forecasting at Scale,” The American Statistician, Vol. 72, No. 1, pp. 37–45.</a:t>
            </a: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68000" y="457200"/>
            <a:ext cx="1136015" cy="1333500"/>
          </a:xfrm>
          <a:prstGeom prst="rect">
            <a:avLst/>
          </a:prstGeom>
          <a:noFill/>
        </p:spPr>
      </p:pic>
      <p:pic>
        <p:nvPicPr>
          <p:cNvPr id="8" name="Picture 4" descr="Description: E:\SSE\SSE\personal\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6725" y="457200"/>
            <a:ext cx="1310005" cy="12801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1177925" y="1219200"/>
            <a:ext cx="9836150" cy="4485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1026</Words>
  <Application>Microsoft Office PowerPoint</Application>
  <PresentationFormat>Widescreen</PresentationFormat>
  <Paragraphs>121</Paragraphs>
  <Slides>17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Wingdings</vt:lpstr>
      <vt:lpstr>Office Theme</vt:lpstr>
      <vt:lpstr>AI-Driven Retail Analytics for Customer Segmentation and Demand Prediction Using Transaction Mining and Market Basket Analysis</vt:lpstr>
      <vt:lpstr>     ABSTRACT </vt:lpstr>
      <vt:lpstr>  INTRODUCTION </vt:lpstr>
      <vt:lpstr>PROBLEM STATEMENT</vt:lpstr>
      <vt:lpstr>    OBJECTIVE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hp</dc:creator>
  <cp:lastModifiedBy>Microsoft account</cp:lastModifiedBy>
  <cp:revision>54</cp:revision>
  <dcterms:created xsi:type="dcterms:W3CDTF">2025-07-23T00:59:00Z</dcterms:created>
  <dcterms:modified xsi:type="dcterms:W3CDTF">2026-10-21T06:55:05Z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EE21197271B04E84A920F41A7B11C305_13</vt:lpwstr>
  </property>
  <property fmtid="{D5CDD505-2E9C-101B-9397-08002B2CF9AE}" pid="3" name="KSOProductBuildVer">
    <vt:lpwstr>2057-12.2.0.23206</vt:lpwstr>
  </property>
</Properties>
</file>